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</p:sldIdLst>
  <p:sldSz cy="5143500" cx="9144000"/>
  <p:notesSz cx="6858000" cy="9144000"/>
  <p:embeddedFontLst>
    <p:embeddedFont>
      <p:font typeface="Comfortaa"/>
      <p:regular r:id="rId63"/>
      <p:bold r:id="rId6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font" Target="fonts/Comfortaa-bold.fntdata"/><Relationship Id="rId63" Type="http://schemas.openxmlformats.org/officeDocument/2006/relationships/font" Target="fonts/Comfortaa-regular.fntdata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789d92f8e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789d92f8e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1f4aa4a5f28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1f4aa4a5f28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4ba396873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4ba396873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02e4a426b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02e4a426b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02e4a426b2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02e4a426b2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02e4a426b2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02e4a426b2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02e4a426b2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02e4a426b2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02e4a426b2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02e4a426b2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02e4a426b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02e4a426b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02e4a426b2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02e4a426b2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1f4aa4a5f28_0_2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1f4aa4a5f28_0_2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02e4a426b2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02e4a426b2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02e4a426b2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02e4a426b2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02e4a426b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02e4a426b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02e4a426b2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02e4a426b2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202e4a426b2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202e4a426b2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02e4a426b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02e4a426b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02e4a426b2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02e4a426b2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02e4a426b2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02e4a426b2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202e4a426b2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202e4a426b2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202e4a426b2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202e4a426b2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02e4a426b2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202e4a426b2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02e4a426b2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202e4a426b2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02e4a426b2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02e4a426b2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02e4a426b2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02e4a426b2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2ddb36ec28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2ddb36ec28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202e4a426b2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202e4a426b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02e4a426b2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202e4a426b2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dd74aa00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2dd74aa00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2dd74aa001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2dd74aa001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dd74aa001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2dd74aa001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dd74aa001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dd74aa001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2dd74aa001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2dd74aa001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2ddb36ec28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2ddb36ec28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dd74aa0013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dd74aa0013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2dd74aa001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2dd74aa001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dd74aa0013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dd74aa0013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dd74aa0013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dd74aa0013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dd74aa001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dd74aa001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dd74aa0013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dd74aa0013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ddb36ec28f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ddb36ec28f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dd74aa0013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dd74aa0013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dd74aa0013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dd74aa0013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dd74aa001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2dd74aa001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2ddb36ec28f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2ddb36ec28f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2ddb36ec28f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2ddb36ec28f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ddb36ec28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2ddb36ec28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2ddb36ec28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2ddb36ec28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g2ddb36ec28f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3" name="Google Shape;383;g2ddb36ec28f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2ddb36ec28f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2ddb36ec28f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2ddb36ec28f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2ddb36ec28f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ddb36ec28f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2ddb36ec28f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2ddb36ec28f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2ddb36ec28f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g2ddb36ec28f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5" name="Google Shape;415;g2ddb36ec28f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2ddb36ec28f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2ddb36ec28f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ddb36ec28f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ddb36ec28f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202e4a426b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202e4a426b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d500073175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d500073175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333875" y="-51650"/>
            <a:ext cx="342900" cy="5462100"/>
          </a:xfrm>
          <a:prstGeom prst="rect">
            <a:avLst/>
          </a:prstGeom>
          <a:solidFill>
            <a:srgbClr val="00A9EC">
              <a:alpha val="523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248150" y="-42125"/>
            <a:ext cx="342900" cy="5462100"/>
          </a:xfrm>
          <a:prstGeom prst="rect">
            <a:avLst/>
          </a:prstGeom>
          <a:solidFill>
            <a:srgbClr val="E3007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-381000" y="-223100"/>
            <a:ext cx="4867200" cy="5462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23850" y="814025"/>
            <a:ext cx="3515475" cy="3515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4807500" y="3083450"/>
            <a:ext cx="4107900" cy="11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mbria"/>
              <a:buNone/>
              <a:defRPr sz="28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2" type="title"/>
          </p:nvPr>
        </p:nvSpPr>
        <p:spPr>
          <a:xfrm>
            <a:off x="4807500" y="4040100"/>
            <a:ext cx="4107900" cy="11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Cambria"/>
              <a:buNone/>
              <a:defRPr sz="1800">
                <a:solidFill>
                  <a:srgbClr val="666666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1pPr>
            <a:lvl2pPr indent="-317500" lvl="1" marL="914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2pPr>
            <a:lvl3pPr indent="-317500" lvl="2" marL="1371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3pPr>
            <a:lvl4pPr indent="-317500" lvl="3" marL="18288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4pPr>
            <a:lvl5pPr indent="-317500" lvl="4" marL="22860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5pPr>
            <a:lvl6pPr indent="-317500" lvl="5" marL="27432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6pPr>
            <a:lvl7pPr indent="-317500" lvl="6" marL="32004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●"/>
              <a:defRPr>
                <a:latin typeface="Cambria"/>
                <a:ea typeface="Cambria"/>
                <a:cs typeface="Cambria"/>
                <a:sym typeface="Cambria"/>
              </a:defRPr>
            </a:lvl7pPr>
            <a:lvl8pPr indent="-317500" lvl="7" marL="3657600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ambria"/>
              <a:buChar char="○"/>
              <a:defRPr>
                <a:latin typeface="Cambria"/>
                <a:ea typeface="Cambria"/>
                <a:cs typeface="Cambria"/>
                <a:sym typeface="Cambria"/>
              </a:defRPr>
            </a:lvl8pPr>
            <a:lvl9pPr indent="-317500" lvl="8" marL="4114800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ambria"/>
              <a:buChar char="■"/>
              <a:defRPr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19" name="Google Shape;19;p3"/>
          <p:cNvSpPr/>
          <p:nvPr/>
        </p:nvSpPr>
        <p:spPr>
          <a:xfrm rot="-5400000">
            <a:off x="4421650" y="50290"/>
            <a:ext cx="458100" cy="9546300"/>
          </a:xfrm>
          <a:prstGeom prst="rect">
            <a:avLst/>
          </a:prstGeom>
          <a:solidFill>
            <a:srgbClr val="00A9EC">
              <a:alpha val="523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 rot="-5400000">
            <a:off x="4438297" y="88625"/>
            <a:ext cx="458100" cy="9546300"/>
          </a:xfrm>
          <a:prstGeom prst="rect">
            <a:avLst/>
          </a:prstGeom>
          <a:solidFill>
            <a:srgbClr val="E3007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0" y="4685275"/>
            <a:ext cx="9144000" cy="45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7739075" y="4703875"/>
            <a:ext cx="536100" cy="42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3" name="Google Shape;23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2550" y="4761650"/>
            <a:ext cx="305350" cy="305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rpo 1">
  <p:cSld name="TITLE_AND_BODY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/>
          <p:nvPr/>
        </p:nvSpPr>
        <p:spPr>
          <a:xfrm rot="-5400000">
            <a:off x="4421650" y="50290"/>
            <a:ext cx="458100" cy="9546300"/>
          </a:xfrm>
          <a:prstGeom prst="rect">
            <a:avLst/>
          </a:prstGeom>
          <a:solidFill>
            <a:srgbClr val="00A9EC">
              <a:alpha val="523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 rot="-5400000">
            <a:off x="4438297" y="88625"/>
            <a:ext cx="458100" cy="9546300"/>
          </a:xfrm>
          <a:prstGeom prst="rect">
            <a:avLst/>
          </a:prstGeom>
          <a:solidFill>
            <a:srgbClr val="E3007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0" y="4685275"/>
            <a:ext cx="9144000" cy="45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7739075" y="4703875"/>
            <a:ext cx="536100" cy="42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2550" y="4761650"/>
            <a:ext cx="305350" cy="305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0" name="Google Shape;30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Cambria"/>
              <a:buNone/>
              <a:defRPr>
                <a:latin typeface="Cambria"/>
                <a:ea typeface="Cambria"/>
                <a:cs typeface="Cambria"/>
                <a:sym typeface="Cambri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mbria"/>
              <a:buChar char="●"/>
              <a:defRPr sz="1400">
                <a:latin typeface="Cambria"/>
                <a:ea typeface="Cambria"/>
                <a:cs typeface="Cambria"/>
                <a:sym typeface="Cambri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○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■"/>
              <a:defRPr sz="1200">
                <a:latin typeface="Cambria"/>
                <a:ea typeface="Cambria"/>
                <a:cs typeface="Cambria"/>
                <a:sym typeface="Cambri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●"/>
              <a:defRPr sz="1200">
                <a:latin typeface="Cambria"/>
                <a:ea typeface="Cambria"/>
                <a:cs typeface="Cambria"/>
                <a:sym typeface="Cambri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○"/>
              <a:defRPr sz="1200">
                <a:latin typeface="Cambria"/>
                <a:ea typeface="Cambria"/>
                <a:cs typeface="Cambria"/>
                <a:sym typeface="Cambri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■"/>
              <a:defRPr sz="1200">
                <a:latin typeface="Cambria"/>
                <a:ea typeface="Cambria"/>
                <a:cs typeface="Cambria"/>
                <a:sym typeface="Cambri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●"/>
              <a:defRPr sz="1200">
                <a:latin typeface="Cambria"/>
                <a:ea typeface="Cambria"/>
                <a:cs typeface="Cambria"/>
                <a:sym typeface="Cambri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○"/>
              <a:defRPr sz="1200">
                <a:latin typeface="Cambria"/>
                <a:ea typeface="Cambria"/>
                <a:cs typeface="Cambria"/>
                <a:sym typeface="Cambri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Cambria"/>
              <a:buChar char="■"/>
              <a:defRPr sz="1200"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Font typeface="Cambria"/>
              <a:buChar char="●"/>
              <a:defRPr sz="1400">
                <a:latin typeface="Cambria"/>
                <a:ea typeface="Cambria"/>
                <a:cs typeface="Cambria"/>
                <a:sym typeface="Cambria"/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○"/>
              <a:defRPr sz="1200">
                <a:latin typeface="Cambria"/>
                <a:ea typeface="Cambria"/>
                <a:cs typeface="Cambria"/>
                <a:sym typeface="Cambria"/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■"/>
              <a:defRPr sz="1200">
                <a:latin typeface="Cambria"/>
                <a:ea typeface="Cambria"/>
                <a:cs typeface="Cambria"/>
                <a:sym typeface="Cambria"/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●"/>
              <a:defRPr sz="1200">
                <a:latin typeface="Cambria"/>
                <a:ea typeface="Cambria"/>
                <a:cs typeface="Cambria"/>
                <a:sym typeface="Cambria"/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○"/>
              <a:defRPr sz="1200">
                <a:latin typeface="Cambria"/>
                <a:ea typeface="Cambria"/>
                <a:cs typeface="Cambria"/>
                <a:sym typeface="Cambria"/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■"/>
              <a:defRPr sz="1200">
                <a:latin typeface="Cambria"/>
                <a:ea typeface="Cambria"/>
                <a:cs typeface="Cambria"/>
                <a:sym typeface="Cambria"/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●"/>
              <a:defRPr sz="1200">
                <a:latin typeface="Cambria"/>
                <a:ea typeface="Cambria"/>
                <a:cs typeface="Cambria"/>
                <a:sym typeface="Cambria"/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Font typeface="Cambria"/>
              <a:buChar char="○"/>
              <a:defRPr sz="1200">
                <a:latin typeface="Cambria"/>
                <a:ea typeface="Cambria"/>
                <a:cs typeface="Cambria"/>
                <a:sym typeface="Cambria"/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Font typeface="Cambria"/>
              <a:buChar char="■"/>
              <a:defRPr sz="1200"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6" name="Google Shape;36;p5"/>
          <p:cNvSpPr/>
          <p:nvPr/>
        </p:nvSpPr>
        <p:spPr>
          <a:xfrm rot="-5400000">
            <a:off x="4421650" y="50290"/>
            <a:ext cx="458100" cy="9546300"/>
          </a:xfrm>
          <a:prstGeom prst="rect">
            <a:avLst/>
          </a:prstGeom>
          <a:solidFill>
            <a:srgbClr val="00A9EC">
              <a:alpha val="523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 rot="-5400000">
            <a:off x="4438297" y="88625"/>
            <a:ext cx="458100" cy="9546300"/>
          </a:xfrm>
          <a:prstGeom prst="rect">
            <a:avLst/>
          </a:prstGeom>
          <a:solidFill>
            <a:srgbClr val="E3007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0" y="4685275"/>
            <a:ext cx="9144000" cy="45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 txBox="1"/>
          <p:nvPr>
            <p:ph idx="3" type="sldNum"/>
          </p:nvPr>
        </p:nvSpPr>
        <p:spPr>
          <a:xfrm>
            <a:off x="7739075" y="4703875"/>
            <a:ext cx="536100" cy="42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0" name="Google Shape;40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2550" y="4761650"/>
            <a:ext cx="305350" cy="305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4" name="Google Shape;44;p6"/>
          <p:cNvSpPr/>
          <p:nvPr/>
        </p:nvSpPr>
        <p:spPr>
          <a:xfrm rot="-5400000">
            <a:off x="4421650" y="50290"/>
            <a:ext cx="458100" cy="9546300"/>
          </a:xfrm>
          <a:prstGeom prst="rect">
            <a:avLst/>
          </a:prstGeom>
          <a:solidFill>
            <a:srgbClr val="00A9EC">
              <a:alpha val="523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6"/>
          <p:cNvSpPr/>
          <p:nvPr/>
        </p:nvSpPr>
        <p:spPr>
          <a:xfrm rot="-5400000">
            <a:off x="4438297" y="88625"/>
            <a:ext cx="458100" cy="9546300"/>
          </a:xfrm>
          <a:prstGeom prst="rect">
            <a:avLst/>
          </a:prstGeom>
          <a:solidFill>
            <a:srgbClr val="E3007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6"/>
          <p:cNvSpPr/>
          <p:nvPr/>
        </p:nvSpPr>
        <p:spPr>
          <a:xfrm>
            <a:off x="0" y="4685275"/>
            <a:ext cx="9144000" cy="45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6"/>
          <p:cNvSpPr txBox="1"/>
          <p:nvPr>
            <p:ph idx="2" type="sldNum"/>
          </p:nvPr>
        </p:nvSpPr>
        <p:spPr>
          <a:xfrm>
            <a:off x="7739075" y="4703875"/>
            <a:ext cx="536100" cy="42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lvl="1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2pPr>
            <a:lvl3pPr lvl="2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3pPr>
            <a:lvl4pPr lvl="3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4pPr>
            <a:lvl5pPr lvl="4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5pPr>
            <a:lvl6pPr lvl="5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6pPr>
            <a:lvl7pPr lvl="6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7pPr>
            <a:lvl8pPr lvl="7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8pPr>
            <a:lvl9pPr lvl="8" rtl="0">
              <a:buNone/>
              <a:defRPr b="1" sz="1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48" name="Google Shape;48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2550" y="4761650"/>
            <a:ext cx="305350" cy="305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Font typeface="Cambria"/>
              <a:buNone/>
              <a:defRPr sz="12000">
                <a:latin typeface="Cambria"/>
                <a:ea typeface="Cambria"/>
                <a:cs typeface="Cambria"/>
                <a:sym typeface="Cambri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2" name="Google Shape;52;p7"/>
          <p:cNvSpPr txBox="1"/>
          <p:nvPr/>
        </p:nvSpPr>
        <p:spPr>
          <a:xfrm>
            <a:off x="4258425" y="5165775"/>
            <a:ext cx="3206400" cy="37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ítulo">
  <p:cSld name="CUSTOM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Google Shape;54;p8"/>
          <p:cNvCxnSpPr/>
          <p:nvPr/>
        </p:nvCxnSpPr>
        <p:spPr>
          <a:xfrm rot="10800000">
            <a:off x="2701725" y="1934075"/>
            <a:ext cx="0" cy="656700"/>
          </a:xfrm>
          <a:prstGeom prst="straightConnector1">
            <a:avLst/>
          </a:prstGeom>
          <a:noFill/>
          <a:ln cap="flat" cmpd="sng" w="38100">
            <a:solidFill>
              <a:srgbClr val="00A9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" name="Google Shape;55;p8"/>
          <p:cNvCxnSpPr/>
          <p:nvPr/>
        </p:nvCxnSpPr>
        <p:spPr>
          <a:xfrm rot="10800000">
            <a:off x="2682725" y="1929875"/>
            <a:ext cx="1458900" cy="0"/>
          </a:xfrm>
          <a:prstGeom prst="straightConnector1">
            <a:avLst/>
          </a:prstGeom>
          <a:noFill/>
          <a:ln cap="flat" cmpd="sng" w="38100">
            <a:solidFill>
              <a:srgbClr val="00A9E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" name="Google Shape;56;p8"/>
          <p:cNvCxnSpPr/>
          <p:nvPr/>
        </p:nvCxnSpPr>
        <p:spPr>
          <a:xfrm>
            <a:off x="6442350" y="2545175"/>
            <a:ext cx="0" cy="656700"/>
          </a:xfrm>
          <a:prstGeom prst="straightConnector1">
            <a:avLst/>
          </a:prstGeom>
          <a:noFill/>
          <a:ln cap="flat" cmpd="sng" w="38100">
            <a:solidFill>
              <a:srgbClr val="E3007B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" name="Google Shape;57;p8"/>
          <p:cNvCxnSpPr/>
          <p:nvPr/>
        </p:nvCxnSpPr>
        <p:spPr>
          <a:xfrm>
            <a:off x="4835250" y="3206075"/>
            <a:ext cx="1626000" cy="0"/>
          </a:xfrm>
          <a:prstGeom prst="straightConnector1">
            <a:avLst/>
          </a:prstGeom>
          <a:noFill/>
          <a:ln cap="flat" cmpd="sng" w="38100">
            <a:solidFill>
              <a:srgbClr val="E3007B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" name="Google Shape;58;p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9" name="Google Shape;59;p8"/>
          <p:cNvSpPr/>
          <p:nvPr/>
        </p:nvSpPr>
        <p:spPr>
          <a:xfrm rot="-5400000">
            <a:off x="4421650" y="50290"/>
            <a:ext cx="458100" cy="9546300"/>
          </a:xfrm>
          <a:prstGeom prst="rect">
            <a:avLst/>
          </a:prstGeom>
          <a:solidFill>
            <a:srgbClr val="00A9EC">
              <a:alpha val="5231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8"/>
          <p:cNvSpPr/>
          <p:nvPr/>
        </p:nvSpPr>
        <p:spPr>
          <a:xfrm rot="-5400000">
            <a:off x="4438297" y="88625"/>
            <a:ext cx="458100" cy="9546300"/>
          </a:xfrm>
          <a:prstGeom prst="rect">
            <a:avLst/>
          </a:prstGeom>
          <a:solidFill>
            <a:srgbClr val="E3007B">
              <a:alpha val="5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0" y="4685275"/>
            <a:ext cx="9144000" cy="4581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2550" y="4761650"/>
            <a:ext cx="305350" cy="30535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63" name="Google Shape;63;p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500"/>
              <a:buFont typeface="Cambria"/>
              <a:buNone/>
              <a:defRPr sz="3500">
                <a:latin typeface="Cambria"/>
                <a:ea typeface="Cambria"/>
                <a:cs typeface="Cambria"/>
                <a:sym typeface="Cambri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Font typeface="Cambria"/>
              <a:buNone/>
              <a:defRPr sz="3600">
                <a:latin typeface="Cambria"/>
                <a:ea typeface="Cambria"/>
                <a:cs typeface="Cambria"/>
                <a:sym typeface="Cambria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0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6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0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2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31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32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4807500" y="3083450"/>
            <a:ext cx="4107900" cy="11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de Linguagem</a:t>
            </a:r>
            <a:endParaRPr/>
          </a:p>
        </p:txBody>
      </p:sp>
      <p:sp>
        <p:nvSpPr>
          <p:cNvPr id="69" name="Google Shape;69;p9"/>
          <p:cNvSpPr txBox="1"/>
          <p:nvPr>
            <p:ph idx="2" type="title"/>
          </p:nvPr>
        </p:nvSpPr>
        <p:spPr>
          <a:xfrm>
            <a:off x="4807500" y="4040100"/>
            <a:ext cx="4107900" cy="110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2024</a:t>
            </a:r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Sumário</a:t>
            </a:r>
            <a:endParaRPr/>
          </a:p>
        </p:txBody>
      </p:sp>
      <p:sp>
        <p:nvSpPr>
          <p:cNvPr id="75" name="Google Shape;75;p10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que são Modelos de Linguagem;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Modelos Probabilísticos;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Modelos Neurais;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RNN;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Transformers;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Treinamento;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Avaliação;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Tendências;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 txBox="1"/>
          <p:nvPr/>
        </p:nvSpPr>
        <p:spPr>
          <a:xfrm>
            <a:off x="2942700" y="2209100"/>
            <a:ext cx="312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1"/>
          <p:cNvSpPr/>
          <p:nvPr/>
        </p:nvSpPr>
        <p:spPr>
          <a:xfrm>
            <a:off x="3129750" y="2167550"/>
            <a:ext cx="2743200" cy="77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omfortaa"/>
                <a:ea typeface="Comfortaa"/>
                <a:cs typeface="Comfortaa"/>
                <a:sym typeface="Comfortaa"/>
              </a:rPr>
              <a:t>O que são?</a:t>
            </a:r>
            <a:endParaRPr b="1" sz="21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de Linguagem</a:t>
            </a:r>
            <a:endParaRPr/>
          </a:p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São utilizados para </a:t>
            </a:r>
            <a:r>
              <a:rPr b="1" lang="pt-BR"/>
              <a:t>representar a língua</a:t>
            </a:r>
            <a:r>
              <a:rPr lang="pt-BR"/>
              <a:t> em sua forma escrita e/ou falada;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Modelos simplificam fenômenos complexos;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Podem ser representados computacionalmente;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Geram e consomem textos mapeados em </a:t>
            </a:r>
            <a:r>
              <a:rPr b="1" lang="pt-BR"/>
              <a:t>representações numéricas;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Fortemente baseados na </a:t>
            </a:r>
            <a:r>
              <a:rPr b="1" lang="pt-BR"/>
              <a:t>hipótese distribucional;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 companhia provê o significado das palavras;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Os modelos </a:t>
            </a:r>
            <a:r>
              <a:rPr b="1" lang="pt-BR"/>
              <a:t>assumem </a:t>
            </a:r>
            <a:r>
              <a:rPr lang="pt-BR"/>
              <a:t>que o texto é oriundo de um processo de </a:t>
            </a:r>
            <a:r>
              <a:rPr b="1" lang="pt-BR"/>
              <a:t>completação;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/>
        </p:nvSpPr>
        <p:spPr>
          <a:xfrm>
            <a:off x="2942700" y="2209100"/>
            <a:ext cx="312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3129750" y="2167550"/>
            <a:ext cx="2743200" cy="77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omfortaa"/>
                <a:ea typeface="Comfortaa"/>
                <a:cs typeface="Comfortaa"/>
                <a:sym typeface="Comfortaa"/>
              </a:rPr>
              <a:t>Modelos Probabilísticos</a:t>
            </a:r>
            <a:endParaRPr b="1" sz="21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Probabilísticos</a:t>
            </a:r>
            <a:endParaRPr/>
          </a:p>
        </p:txBody>
      </p:sp>
      <p:sp>
        <p:nvSpPr>
          <p:cNvPr id="99" name="Google Shape;99;p14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Simboliza a tarefa de atribuir uma </a:t>
            </a:r>
            <a:r>
              <a:rPr b="1" lang="pt-BR"/>
              <a:t>probabilidade </a:t>
            </a:r>
            <a:r>
              <a:rPr lang="pt-BR"/>
              <a:t>a uma sequência de palavras;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Assume a existência de uma probabilidade associada a existência de uma sequência;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tarefa de completar uma sequência é dada por uma </a:t>
            </a:r>
            <a:r>
              <a:rPr b="1" lang="pt-BR"/>
              <a:t>distribuição de</a:t>
            </a:r>
            <a:r>
              <a:rPr lang="pt-BR"/>
              <a:t> </a:t>
            </a:r>
            <a:r>
              <a:rPr b="1" lang="pt-BR"/>
              <a:t>probabilidade condicional;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20021" l="0" r="0" t="25541"/>
          <a:stretch/>
        </p:blipFill>
        <p:spPr>
          <a:xfrm>
            <a:off x="220950" y="2044975"/>
            <a:ext cx="8702099" cy="57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14225" y="3644925"/>
            <a:ext cx="2515525" cy="75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Probabilísticos</a:t>
            </a:r>
            <a:endParaRPr/>
          </a:p>
        </p:txBody>
      </p:sp>
      <p:sp>
        <p:nvSpPr>
          <p:cNvPr id="107" name="Google Shape;107;p15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Sofrem com a </a:t>
            </a:r>
            <a:r>
              <a:rPr b="1" lang="pt-BR"/>
              <a:t>maldição da dimensionalidade;</a:t>
            </a:r>
            <a:endParaRPr b="1"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As probabilidades ficam mais complexas com o tamanho da sequência;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Pode-se assumir a suposição Markoviana como solução;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Bigrama: considera probabilidade condicional de um par de palavras;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Unigrama: considera apenas a probabilidade a priori;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Probabilísticos</a:t>
            </a:r>
            <a:endParaRPr/>
          </a:p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Estimando probabilidades a partir de Corpora: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4" name="Google Shape;11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5800" y="1690850"/>
            <a:ext cx="2914650" cy="752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Probabilísticos</a:t>
            </a:r>
            <a:endParaRPr/>
          </a:p>
        </p:txBody>
      </p:sp>
      <p:sp>
        <p:nvSpPr>
          <p:cNvPr id="120" name="Google Shape;120;p17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Uso do modelo probabilístico: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7200" y="1017725"/>
            <a:ext cx="4280248" cy="352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/>
          <p:nvPr/>
        </p:nvSpPr>
        <p:spPr>
          <a:xfrm>
            <a:off x="2942700" y="2209100"/>
            <a:ext cx="312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3129750" y="2167550"/>
            <a:ext cx="2743200" cy="77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omfortaa"/>
                <a:ea typeface="Comfortaa"/>
                <a:cs typeface="Comfortaa"/>
                <a:sym typeface="Comfortaa"/>
              </a:rPr>
              <a:t>Modelos Neurais</a:t>
            </a:r>
            <a:endParaRPr b="1" sz="21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Neurais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9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Considera-se que a probabilidade associada ao modelo de linguagem é uma </a:t>
            </a:r>
            <a:r>
              <a:rPr b="1" lang="pt-BR"/>
              <a:t>função </a:t>
            </a:r>
            <a:r>
              <a:rPr lang="pt-BR"/>
              <a:t>que será aprendida;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Permite generalização para sentenças que não tenham aparecido no Corpora;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Neurais - Contexto Histórico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20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Can artificial neural network learn language models? (Xu; Rudnicky, 2000) e A neural probabilistic language model (Bengio et al., 2003);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modelo proposto tenta predizer a próxima palavra dada </a:t>
            </a:r>
            <a:r>
              <a:rPr b="1" lang="pt-BR"/>
              <a:t>palavras anteriores</a:t>
            </a:r>
            <a:r>
              <a:rPr lang="pt-BR"/>
              <a:t>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objetivo é representar uma função f(pi, …, pi-n+1) = P(pi|pi-1), onde n é o tamanho de uma janela de contexto;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Neurais - Contexto Histórico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1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f é decomposta em duas partes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Um mapeamento C da palavra para um embedding;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Uma função que mapeia os vetores das palavras para uma probabilidade condicional da próxima palavra pi;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função g possui parâmetros w e serão aprendidos pela minimização da função custo;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4312" y="3534850"/>
            <a:ext cx="6815375" cy="68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Modelos Neurais Modernos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Construção de </a:t>
            </a:r>
            <a:r>
              <a:rPr b="1" lang="pt-BR"/>
              <a:t>embeddings dinâmicos</a:t>
            </a:r>
            <a:r>
              <a:rPr lang="pt-BR"/>
              <a:t>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Diferente do Word2Vec, que fornece representações estáticas;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Uso do contexto na criação das representações;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Entradas precisam ser transformadas em representações iniciais;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Descoberta desta função de agregação de forma </a:t>
            </a:r>
            <a:r>
              <a:rPr b="1" lang="pt-BR"/>
              <a:t>automática</a:t>
            </a:r>
            <a:r>
              <a:rPr lang="pt-BR"/>
              <a:t>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8638" y="2285400"/>
            <a:ext cx="5666712" cy="57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Recorrentes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3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Aceitam entradas de tamanho variável e consideram a </a:t>
            </a:r>
            <a:r>
              <a:rPr b="1" lang="pt-BR"/>
              <a:t>ordem </a:t>
            </a:r>
            <a:r>
              <a:rPr lang="pt-BR"/>
              <a:t>das palavras;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Produz representações do texto de entrada para serem processadas;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2241950"/>
            <a:ext cx="5734050" cy="164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Recorrentes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67" name="Google Shape;16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7088" y="1710875"/>
            <a:ext cx="7549825" cy="200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Recorrentes - ELMo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5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Análise nos dois sentidos;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Uso de </a:t>
            </a:r>
            <a:r>
              <a:rPr b="1" lang="pt-BR"/>
              <a:t>atenção;</a:t>
            </a:r>
            <a:endParaRPr b="1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4" name="Google Shape;17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18175" y="816750"/>
            <a:ext cx="4841850" cy="37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Redes Recorrentes - Problemas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6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Não são paralelizáveis;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Perdem informação a respeito das palavras iniciais em sentenças grandes;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Arquitetura proposta para resolução da tarefa de </a:t>
            </a:r>
            <a:r>
              <a:rPr b="1" lang="pt-BR"/>
              <a:t>tradução automática</a:t>
            </a:r>
            <a:r>
              <a:rPr lang="pt-BR"/>
              <a:t>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Pode ser usada em outras tarefas </a:t>
            </a:r>
            <a:r>
              <a:rPr b="1" lang="pt-BR"/>
              <a:t>seq2seq</a:t>
            </a:r>
            <a:r>
              <a:rPr lang="pt-BR"/>
              <a:t>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Tarefas seq2seq são, geralmente, abordadas com arquiteturas </a:t>
            </a:r>
            <a:r>
              <a:rPr b="1" lang="pt-BR"/>
              <a:t>encoder-decoder</a:t>
            </a:r>
            <a:r>
              <a:rPr lang="pt-BR"/>
              <a:t>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 primeiro processa a sequência de entrada e gera uma representação intermediária;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 segundo processa a representação intermediária e gera uma sequência de saída;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Atenção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Pesos adicionais que permitem a rede dar maior valoração a certos elementos da entrada;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Surgiu inicialmente nas redes recorrentes para considerar todos os estados escondidos no vetor intermediário final;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Atenção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9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39373" y="1071361"/>
            <a:ext cx="3865250" cy="300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30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54325" y="1171050"/>
            <a:ext cx="5028700" cy="315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31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13" name="Google Shape;21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0675" y="1235800"/>
            <a:ext cx="4555999" cy="296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32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0" name="Google Shape;22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5750" y="1243000"/>
            <a:ext cx="8372475" cy="2657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33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27" name="Google Shape;227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5184" y="1087862"/>
            <a:ext cx="4626976" cy="296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4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2586" y="1285900"/>
            <a:ext cx="3198825" cy="302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5"/>
          <p:cNvSpPr txBox="1"/>
          <p:nvPr>
            <p:ph idx="1" type="body"/>
          </p:nvPr>
        </p:nvSpPr>
        <p:spPr>
          <a:xfrm>
            <a:off x="208375" y="1262925"/>
            <a:ext cx="8520600" cy="363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Camada de atenção permite modificar embeddings através da </a:t>
            </a:r>
            <a:r>
              <a:rPr b="1" lang="pt-BR"/>
              <a:t>influência do contexto</a:t>
            </a:r>
            <a:r>
              <a:rPr lang="pt-BR"/>
              <a:t>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Esta influência é aprendida de forma automática através de matrizes de pesos;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Três matrizes são aprendidas em cada módulo de atenção: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Query;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Key;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Value;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6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47" name="Google Shape;24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35052" y="1034375"/>
            <a:ext cx="4873901" cy="307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7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54" name="Google Shape;25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1288" y="1017725"/>
            <a:ext cx="3594777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8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02437" y="1017725"/>
            <a:ext cx="3132475" cy="354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9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68" name="Google Shape;26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075" y="1265538"/>
            <a:ext cx="8505825" cy="332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0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5486" y="1017725"/>
            <a:ext cx="6026377" cy="35606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1"/>
          <p:cNvSpPr txBox="1"/>
          <p:nvPr>
            <p:ph idx="1" type="body"/>
          </p:nvPr>
        </p:nvSpPr>
        <p:spPr>
          <a:xfrm>
            <a:off x="208375" y="1159575"/>
            <a:ext cx="8520600" cy="3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Cada módulo de atenção tem múltiplas matrizes QVK, permitindo que uma camada “aprenda” diferentes aspectos dos embeddings atuais;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42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8" name="Google Shape;28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2450" y="1067753"/>
            <a:ext cx="6212448" cy="347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3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5" name="Google Shape;29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77575" y="1103750"/>
            <a:ext cx="3388850" cy="330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44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4400" y="1159976"/>
            <a:ext cx="6195192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5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09" name="Google Shape;30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4925" y="1132600"/>
            <a:ext cx="5954150" cy="3549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6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16" name="Google Shape;316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2325" y="1849250"/>
            <a:ext cx="8251750" cy="144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7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475" y="1125600"/>
            <a:ext cx="5977051" cy="328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48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30" name="Google Shape;330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85329" y="1350175"/>
            <a:ext cx="4773350" cy="308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Transformers - Arquitetura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9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37" name="Google Shape;33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62738" y="1017725"/>
            <a:ext cx="5811875" cy="3302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BERT - Bidirectional Encoder Representations for Transformers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50"/>
          <p:cNvSpPr txBox="1"/>
          <p:nvPr>
            <p:ph idx="1" type="body"/>
          </p:nvPr>
        </p:nvSpPr>
        <p:spPr>
          <a:xfrm>
            <a:off x="208375" y="14767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Utiliza apenas a parte do </a:t>
            </a:r>
            <a:r>
              <a:rPr b="1" lang="pt-BR"/>
              <a:t>codificador </a:t>
            </a:r>
            <a:r>
              <a:rPr lang="pt-BR"/>
              <a:t>do Transformer;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Definição dos pesos segue um vocabulário específico da língua de treinamento;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344" name="Google Shape;34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4375" y="2270837"/>
            <a:ext cx="3748600" cy="231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GPT - Generative Pre-Trained Transformer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1"/>
          <p:cNvSpPr txBox="1"/>
          <p:nvPr>
            <p:ph idx="1" type="body"/>
          </p:nvPr>
        </p:nvSpPr>
        <p:spPr>
          <a:xfrm>
            <a:off x="208375" y="1017725"/>
            <a:ext cx="85206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Utiliza apenas o componente </a:t>
            </a:r>
            <a:r>
              <a:rPr b="1" lang="pt-BR"/>
              <a:t>decodificador </a:t>
            </a:r>
            <a:r>
              <a:rPr lang="pt-BR"/>
              <a:t>do transformer;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</a:t>
            </a:r>
            <a:r>
              <a:rPr b="1" lang="pt-BR"/>
              <a:t>autoregressivo</a:t>
            </a:r>
            <a:r>
              <a:rPr lang="pt-BR"/>
              <a:t>, ou seja, usa atenção mascarada;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 artigo do GPT-2, começou a se vislumbrar um modelo geral que fosse capaz de executar tarefas para as quais não foi explicitamente treinado;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Dados permitem o modelo a aprender diferentes tarefas;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Geração de texto como abstração para tarefas mais específicas;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Habilidades recuperadas em tempo de execução pelo contexto;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Zero, One e Few Show Learning;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Outras Curiosidades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2"/>
          <p:cNvSpPr txBox="1"/>
          <p:nvPr>
            <p:ph idx="1" type="body"/>
          </p:nvPr>
        </p:nvSpPr>
        <p:spPr>
          <a:xfrm>
            <a:off x="208375" y="1017725"/>
            <a:ext cx="85206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T5 (Raffel et al., 2020) utiliza tanto o codificador como o decodificador;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Permite uso da atenção bidirecional e da geração de texto;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É possível recuperar embeddings da sentença completa;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média dos embeddings de saída;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camadas de agregação;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primeiro token CLS, um token especial que sumariza informações da sentença;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53"/>
          <p:cNvSpPr txBox="1"/>
          <p:nvPr/>
        </p:nvSpPr>
        <p:spPr>
          <a:xfrm>
            <a:off x="2942700" y="2209100"/>
            <a:ext cx="312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3"/>
          <p:cNvSpPr/>
          <p:nvPr/>
        </p:nvSpPr>
        <p:spPr>
          <a:xfrm>
            <a:off x="3129750" y="2167550"/>
            <a:ext cx="2743200" cy="77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omfortaa"/>
                <a:ea typeface="Comfortaa"/>
                <a:cs typeface="Comfortaa"/>
                <a:sym typeface="Comfortaa"/>
              </a:rPr>
              <a:t>Treinamento</a:t>
            </a:r>
            <a:endParaRPr b="1" sz="21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Treinamento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4"/>
          <p:cNvSpPr txBox="1"/>
          <p:nvPr>
            <p:ph idx="1" type="body"/>
          </p:nvPr>
        </p:nvSpPr>
        <p:spPr>
          <a:xfrm>
            <a:off x="208375" y="1017725"/>
            <a:ext cx="85206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Dividido em duas grandes etapas: </a:t>
            </a:r>
            <a:r>
              <a:rPr b="1" lang="pt-BR"/>
              <a:t>pré-treinamento </a:t>
            </a:r>
            <a:r>
              <a:rPr lang="pt-BR"/>
              <a:t>e </a:t>
            </a:r>
            <a:r>
              <a:rPr b="1" lang="pt-BR"/>
              <a:t>ajuste;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Pré treinamento: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Usa uma quantidade </a:t>
            </a:r>
            <a:r>
              <a:rPr b="1" lang="pt-BR"/>
              <a:t>expressiva </a:t>
            </a:r>
            <a:r>
              <a:rPr lang="pt-BR"/>
              <a:t>de textos sem nenhum rótulo ou anotação, com o intuito de gerar um modelo de propósito geral capaz de “entender” linguagem;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Considera um objetivo genérico, de </a:t>
            </a:r>
            <a:r>
              <a:rPr b="1" lang="pt-BR"/>
              <a:t>geração </a:t>
            </a:r>
            <a:r>
              <a:rPr lang="pt-BR"/>
              <a:t>ou </a:t>
            </a:r>
            <a:r>
              <a:rPr b="1" lang="pt-BR"/>
              <a:t>preenchimento </a:t>
            </a:r>
            <a:r>
              <a:rPr lang="pt-BR"/>
              <a:t>de texto, que não requer nenhuma anotação por parte de especialistas;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Ajuste: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Permite atualizar os pesos do modelo para melhor performance em tarefas específicas;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Pré-Treinamento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55"/>
          <p:cNvSpPr txBox="1"/>
          <p:nvPr>
            <p:ph idx="1" type="body"/>
          </p:nvPr>
        </p:nvSpPr>
        <p:spPr>
          <a:xfrm>
            <a:off x="208375" y="1017725"/>
            <a:ext cx="85206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Passos: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Escolha de corpora;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Pré Processamento;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Treinamento do Tokenizador;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Definição da Arquitetura;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Definição </a:t>
            </a:r>
            <a:r>
              <a:rPr lang="pt-BR"/>
              <a:t>Função Objetivo ou Tarefa Intermediária;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Definição de Hiperparâmetros;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Avaliação;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Pré-Treinamento - Tarefa Intermediária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56"/>
          <p:cNvSpPr txBox="1"/>
          <p:nvPr>
            <p:ph idx="1" type="body"/>
          </p:nvPr>
        </p:nvSpPr>
        <p:spPr>
          <a:xfrm>
            <a:off x="208375" y="1017725"/>
            <a:ext cx="85206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Guia o aprendizado do modelo a gerar texto ou predizer partes do texto que estejam faltando;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Objetiva ter uma compreensão estatística da língua;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São tarefas </a:t>
            </a:r>
            <a:r>
              <a:rPr b="1" lang="pt-BR"/>
              <a:t>auto-supervisionadas</a:t>
            </a:r>
            <a:r>
              <a:rPr lang="pt-BR"/>
              <a:t>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Exemplos: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Modelagem de Linguagem Mascarada;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Estimar os tokens mascarados levando em consideração o contexto;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Modelagem de Linguagem </a:t>
            </a:r>
            <a:r>
              <a:rPr lang="pt-BR"/>
              <a:t>Autoregressiva;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pt-BR"/>
              <a:t>Completar o próximo token em uma sequência considerando apenas os tokens anteriores;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Ajuste do Modelo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7"/>
          <p:cNvSpPr txBox="1"/>
          <p:nvPr>
            <p:ph idx="1" type="body"/>
          </p:nvPr>
        </p:nvSpPr>
        <p:spPr>
          <a:xfrm>
            <a:off x="208375" y="1017725"/>
            <a:ext cx="85206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Treinamento Continuado;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Mesma tarefa intermediária, porém dados específicos;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Foco na Tarefa (TAPT) ou Foco no Domínio (DAPT);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Ajuste Fino;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Uso de textos rotulados e função objetivo específica para a tarefa alvo;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Resulta </a:t>
            </a:r>
            <a:r>
              <a:rPr lang="pt-BR"/>
              <a:t>em um modelo altamente ajustado ao contexto da tarefa final;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8"/>
          <p:cNvSpPr txBox="1"/>
          <p:nvPr/>
        </p:nvSpPr>
        <p:spPr>
          <a:xfrm>
            <a:off x="2942700" y="2209100"/>
            <a:ext cx="312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8"/>
          <p:cNvSpPr/>
          <p:nvPr/>
        </p:nvSpPr>
        <p:spPr>
          <a:xfrm>
            <a:off x="3129750" y="2167550"/>
            <a:ext cx="2743200" cy="77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omfortaa"/>
                <a:ea typeface="Comfortaa"/>
                <a:cs typeface="Comfortaa"/>
                <a:sym typeface="Comfortaa"/>
              </a:rPr>
              <a:t>Avaliação</a:t>
            </a:r>
            <a:endParaRPr b="1" sz="21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59"/>
          <p:cNvSpPr txBox="1"/>
          <p:nvPr>
            <p:ph idx="1" type="body"/>
          </p:nvPr>
        </p:nvSpPr>
        <p:spPr>
          <a:xfrm>
            <a:off x="208375" y="1017725"/>
            <a:ext cx="85206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Tradicionalmente, modelos de linguagem são avaliados por métricas como perplexidade, entropia cruzada e bits-por-caracter (BPC);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Avaliação intrínseca, com o modelo sendo avaliado através do seu desempenho na tarefa intermediária;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Avaliar ao aplicá-los diretamente na resolução de uma tarefa final;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- Entropia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60"/>
          <p:cNvSpPr txBox="1"/>
          <p:nvPr>
            <p:ph idx="1" type="body"/>
          </p:nvPr>
        </p:nvSpPr>
        <p:spPr>
          <a:xfrm>
            <a:off x="208375" y="1017725"/>
            <a:ext cx="85206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No contexto de linguagem, entropia é a quantidade de informação contida em um caractere em uma sequência de texto infinita;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i se refere ao próximo token a ser gerado e p(i) a probabilidade do modelo escolher este token;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05" name="Google Shape;40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1775" y="2976700"/>
            <a:ext cx="3920450" cy="101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- Aproximação de Distribuições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61"/>
          <p:cNvSpPr txBox="1"/>
          <p:nvPr>
            <p:ph idx="1" type="body"/>
          </p:nvPr>
        </p:nvSpPr>
        <p:spPr>
          <a:xfrm>
            <a:off x="208375" y="1017725"/>
            <a:ext cx="85206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Objetivo de aprender uma distribuição Q a partir dos dados que se aproxime da distribuição P da </a:t>
            </a:r>
            <a:r>
              <a:rPr lang="pt-BR"/>
              <a:t>língua</a:t>
            </a:r>
            <a:r>
              <a:rPr lang="pt-BR"/>
              <a:t>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12" name="Google Shape;412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825" y="2502850"/>
            <a:ext cx="8640350" cy="110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- Perplexidade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62"/>
          <p:cNvSpPr txBox="1"/>
          <p:nvPr>
            <p:ph idx="1" type="body"/>
          </p:nvPr>
        </p:nvSpPr>
        <p:spPr>
          <a:xfrm>
            <a:off x="208375" y="1017725"/>
            <a:ext cx="85206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O conceito de perplexidade está totalmente relacionado ao conceito de entropia e entropia cruzada;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419" name="Google Shape;419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5025" y="2675087"/>
            <a:ext cx="4487300" cy="10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Avaliação - Outras Informações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63"/>
          <p:cNvSpPr txBox="1"/>
          <p:nvPr>
            <p:ph idx="1" type="body"/>
          </p:nvPr>
        </p:nvSpPr>
        <p:spPr>
          <a:xfrm>
            <a:off x="208375" y="1017725"/>
            <a:ext cx="8520600" cy="38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M</a:t>
            </a:r>
            <a:r>
              <a:rPr lang="pt-BR"/>
              <a:t>odelos com comprimento de contexto mais longo costumam ter um valor de entropia cruzada menor quando comparado com modelos com comprimento de contexto menores;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Benchmarks são</a:t>
            </a:r>
            <a:r>
              <a:rPr lang="pt-BR"/>
              <a:t> conjuntos de dados referentes a várias tarefas linguísticas que ajudam a avaliar a capacidade dos modelos no entendimento e geração de texto;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Padronização de dados e métricas;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BERTScore usa os embeddings gerados por modelos como o BERT para calcular a similaridade (similarid</a:t>
            </a:r>
            <a:r>
              <a:rPr lang="pt-BR"/>
              <a:t>de cosseno) entre os tokens da sequência gerada e os tokens da sequência de referência;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4"/>
          <p:cNvSpPr txBox="1"/>
          <p:nvPr/>
        </p:nvSpPr>
        <p:spPr>
          <a:xfrm>
            <a:off x="2942700" y="2209100"/>
            <a:ext cx="3127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64"/>
          <p:cNvSpPr/>
          <p:nvPr/>
        </p:nvSpPr>
        <p:spPr>
          <a:xfrm>
            <a:off x="3129750" y="2167550"/>
            <a:ext cx="2743200" cy="779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latin typeface="Comfortaa"/>
                <a:ea typeface="Comfortaa"/>
                <a:cs typeface="Comfortaa"/>
                <a:sym typeface="Comfortaa"/>
              </a:rPr>
              <a:t>Tendências</a:t>
            </a:r>
            <a:endParaRPr b="1" sz="2100">
              <a:latin typeface="Comfortaa"/>
              <a:ea typeface="Comfortaa"/>
              <a:cs typeface="Comfortaa"/>
              <a:sym typeface="Comfortaa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Tendências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65"/>
          <p:cNvSpPr txBox="1"/>
          <p:nvPr>
            <p:ph idx="1" type="body"/>
          </p:nvPr>
        </p:nvSpPr>
        <p:spPr>
          <a:xfrm>
            <a:off x="311700" y="1132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A era dos LLMs;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Q</a:t>
            </a:r>
            <a:r>
              <a:rPr lang="pt-BR"/>
              <a:t>uantidade enorme de parâmetros;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pt-BR"/>
              <a:t>IA Gerativa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pt-BR"/>
              <a:t>Habilidades emergentes;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Treinamento Eficiente de Modelos de Linguagem Neurais;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pt-BR"/>
              <a:t> Estratégias de Treinamento para Agentes de Conversação: alinhamento e feedback humano;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66"/>
          <p:cNvSpPr/>
          <p:nvPr/>
        </p:nvSpPr>
        <p:spPr>
          <a:xfrm>
            <a:off x="2842350" y="2063400"/>
            <a:ext cx="3459300" cy="101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700">
                <a:solidFill>
                  <a:schemeClr val="dk2"/>
                </a:solidFill>
                <a:latin typeface="Cambria"/>
                <a:ea typeface="Cambria"/>
                <a:cs typeface="Cambria"/>
                <a:sym typeface="Cambria"/>
              </a:rPr>
              <a:t>Obrigado!</a:t>
            </a:r>
            <a:endParaRPr sz="3700">
              <a:solidFill>
                <a:schemeClr val="dk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t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