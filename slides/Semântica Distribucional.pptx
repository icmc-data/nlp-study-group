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f38f050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ff38f050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f38f0509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1ff38f0509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f38f050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ff38f050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ff38f0509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1ff38f0509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f38f0509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1ff38f0509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f38f0509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1ff38f0509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f38f0509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1ff38f0509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f38f0509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1ff38f0509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f38f0509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ff38f0509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f38f0509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1ff38f0509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ff38f0509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1ff38f0509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ff38f0509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1ff38f0509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f38f0509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1ff38f0509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f38f0509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1ff38f0509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38f0509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1ff38f0509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f38f0509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ff38f0509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f38f0509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ff38f0509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f38f0509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1ff38f0509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f38f0509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1ff38f0509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ff38f0509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1ff38f050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ff38f0509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1ff38f0509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ff38f0509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1ff38f0509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ff38f0509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1ff38f0509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f38f0509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1ff38f0509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f38f0509d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1ff38f0509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f38f0509d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1ff38f0509d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ff38f0509d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1ff38f0509d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ff38f0509d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1ff38f0509d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f38f050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1ff38f050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ff38f0509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1ff38f0509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f38f0509d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1ff38f0509d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ff38f0509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1ff38f0509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ff38f0509d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1ff38f0509d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ff38f0509d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1ff38f0509d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333875" y="-51650"/>
            <a:ext cx="342900" cy="54621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248150" y="-42125"/>
            <a:ext cx="342900" cy="54621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-381000" y="-223100"/>
            <a:ext cx="4867200" cy="546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3850" y="814025"/>
            <a:ext cx="3515475" cy="35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4807500" y="3083450"/>
            <a:ext cx="41079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4807500" y="4040100"/>
            <a:ext cx="41079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mbria"/>
              <a:buNone/>
              <a:defRPr sz="18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2 1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/>
        </p:nvSpPr>
        <p:spPr>
          <a:xfrm>
            <a:off x="2895750" y="2180850"/>
            <a:ext cx="33525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demo</a:t>
            </a:r>
            <a:endParaRPr b="0" i="0" sz="3600" u="none" cap="none" strike="noStrike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2701725" y="19340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 rot="10800000">
            <a:off x="2682725" y="1929875"/>
            <a:ext cx="1458900" cy="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6442350" y="25451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4835250" y="3206075"/>
            <a:ext cx="1626000" cy="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7163" y="2274825"/>
            <a:ext cx="1209674" cy="5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1pPr>
            <a:lvl2pPr indent="-3175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indent="-3175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1" name="Google Shape;31;p4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1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  <a:defRPr sz="1400">
                <a:latin typeface="Cambria"/>
                <a:ea typeface="Cambria"/>
                <a:cs typeface="Cambria"/>
                <a:sym typeface="Cambria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  <a:defRPr sz="1400">
                <a:latin typeface="Cambria"/>
                <a:ea typeface="Cambria"/>
                <a:cs typeface="Cambria"/>
                <a:sym typeface="Cambria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7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/>
          <p:nvPr>
            <p:ph idx="3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8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idx="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9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idx="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4" name="Google Shape;74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" name="Google Shape;75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4258425" y="5165775"/>
            <a:ext cx="3206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2">
  <p:cSld name="CUSTOM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/>
        </p:nvSpPr>
        <p:spPr>
          <a:xfrm>
            <a:off x="2895750" y="2180850"/>
            <a:ext cx="33525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dúvidas?</a:t>
            </a:r>
            <a:endParaRPr b="0" i="0" sz="3600" u="none" cap="none" strike="noStrike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 rot="10800000">
            <a:off x="2701725" y="19340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5"/>
          <p:cNvCxnSpPr/>
          <p:nvPr/>
        </p:nvCxnSpPr>
        <p:spPr>
          <a:xfrm rot="10800000">
            <a:off x="2682725" y="1929875"/>
            <a:ext cx="1458900" cy="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5"/>
          <p:cNvCxnSpPr/>
          <p:nvPr/>
        </p:nvCxnSpPr>
        <p:spPr>
          <a:xfrm>
            <a:off x="6442350" y="25451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5"/>
          <p:cNvCxnSpPr/>
          <p:nvPr/>
        </p:nvCxnSpPr>
        <p:spPr>
          <a:xfrm>
            <a:off x="4835250" y="3206075"/>
            <a:ext cx="1626000" cy="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pt-BR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4862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5036100" y="2020050"/>
            <a:ext cx="41079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SEMÂNTICA DISTRIBUCIONAL</a:t>
            </a:r>
            <a:endParaRPr/>
          </a:p>
        </p:txBody>
      </p:sp>
      <p:sp>
        <p:nvSpPr>
          <p:cNvPr id="103" name="Google Shape;103;p16"/>
          <p:cNvSpPr txBox="1"/>
          <p:nvPr>
            <p:ph idx="2" type="title"/>
          </p:nvPr>
        </p:nvSpPr>
        <p:spPr>
          <a:xfrm>
            <a:off x="5036100" y="3806650"/>
            <a:ext cx="41079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Overview do Capítulo 10 do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livro </a:t>
            </a:r>
            <a:r>
              <a:rPr i="1" lang="pt-BR"/>
              <a:t>Bras</a:t>
            </a:r>
            <a:r>
              <a:rPr i="1" lang="pt-BR"/>
              <a:t>ileiras em PLN</a:t>
            </a:r>
            <a:endParaRPr i="1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Carlos Filipe de Castro Lemos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2847000" y="2116800"/>
            <a:ext cx="3450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chemeClr val="dk2"/>
                </a:solidFill>
              </a:rPr>
              <a:t>SEMÂNTICA DISTRIBUCIONAL</a:t>
            </a:r>
            <a:endParaRPr b="1" i="0" sz="26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SEMÂNTICA DISTRIBUCIONAL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67175" y="742000"/>
            <a:ext cx="3039600" cy="132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HIPÓTESE</a:t>
            </a:r>
            <a:r>
              <a:rPr b="1" lang="pt-BR" sz="2000"/>
              <a:t> DISTRIBUCIONAL</a:t>
            </a:r>
            <a:endParaRPr b="1" sz="2000"/>
          </a:p>
        </p:txBody>
      </p:sp>
      <p:sp>
        <p:nvSpPr>
          <p:cNvPr id="115" name="Google Shape;115;p18"/>
          <p:cNvSpPr/>
          <p:nvPr/>
        </p:nvSpPr>
        <p:spPr>
          <a:xfrm>
            <a:off x="467175" y="2742650"/>
            <a:ext cx="3039600" cy="137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SEMÂNTICA DISTRIBUCIONAL</a:t>
            </a:r>
            <a:endParaRPr b="1" sz="2000"/>
          </a:p>
        </p:txBody>
      </p:sp>
      <p:cxnSp>
        <p:nvCxnSpPr>
          <p:cNvPr id="116" name="Google Shape;116;p18"/>
          <p:cNvCxnSpPr>
            <a:stCxn id="114" idx="3"/>
          </p:cNvCxnSpPr>
          <p:nvPr/>
        </p:nvCxnSpPr>
        <p:spPr>
          <a:xfrm flipH="1" rot="10800000">
            <a:off x="3506775" y="1396150"/>
            <a:ext cx="8592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/>
          <p:nvPr/>
        </p:nvCxnSpPr>
        <p:spPr>
          <a:xfrm flipH="1" rot="10800000">
            <a:off x="3506775" y="3425600"/>
            <a:ext cx="8592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4365975" y="600925"/>
            <a:ext cx="4668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Palavras que têm um </a:t>
            </a:r>
            <a:r>
              <a:rPr b="1" lang="pt-BR" sz="1800">
                <a:solidFill>
                  <a:schemeClr val="dk2"/>
                </a:solidFill>
              </a:rPr>
              <a:t>contexto linguístico semelhante</a:t>
            </a:r>
            <a:r>
              <a:rPr lang="pt-BR" sz="1800">
                <a:solidFill>
                  <a:schemeClr val="dk2"/>
                </a:solidFill>
              </a:rPr>
              <a:t> tendem a ter um significado similar ou aproximado. Exemplo: “ensino” e “educação” ou tendem a aparecer junto (“escola”, “professor”, “aluno”).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366125" y="2646500"/>
            <a:ext cx="46680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ITENS LEXICAIS (PALAVRAS)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VETORES SEMÂNTICOS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507600" y="3165875"/>
            <a:ext cx="243600" cy="57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SEMÂNTICA DISTRIBUCIONAL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26125" y="754825"/>
            <a:ext cx="8528400" cy="3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considerando que as palavras são caracterizadas pelo contexto, a semântica distribucional vai codificar o significado das palavras a partir de suas distribuições em textos.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Características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Os vetores podem ser apreendidos a partir de textos sem a supervisão de seres humanos.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Os vetores podem representar palavras, frases, documentos ou contextos específicos.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Vetores podem ser compostos de números inteiros ou reais.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Permite a criação de modelos semânticos distribucionais (</a:t>
            </a:r>
            <a:r>
              <a:rPr i="1" lang="pt-BR" sz="1800">
                <a:solidFill>
                  <a:schemeClr val="dk2"/>
                </a:solidFill>
              </a:rPr>
              <a:t>Density Semantic Model - DSM</a:t>
            </a:r>
            <a:r>
              <a:rPr lang="pt-BR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MODELOS SEMÂNTICOS DISTRIBUCIONAIS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75" y="575275"/>
            <a:ext cx="7445300" cy="3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2847000" y="2116800"/>
            <a:ext cx="3450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chemeClr val="dk2"/>
                </a:solidFill>
              </a:rPr>
              <a:t>CONCEITOS VETORIAIS</a:t>
            </a:r>
            <a:endParaRPr b="1" i="0" sz="26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PORQUÊ DOS CONCEITOS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326125" y="575275"/>
            <a:ext cx="7592100" cy="26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Como é feita a representação dos vetores semânticos?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Como é possível medir a similaridade entre vetores semânticos?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Qual é o espaço dimensional dos vetores semânticos?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Os vetores semânticos são estáticos ou dinâmicos?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Quais os valores que os vetores semânticos carregam?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Quais as técnicas envolvidas com cada um deles?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ALGEBRA LINEAR E ESPAÇOS VETORIAIS MULTIDIMENSIONAIS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50" y="556925"/>
            <a:ext cx="4139050" cy="36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800" y="2779275"/>
            <a:ext cx="2665000" cy="13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2700" y="875278"/>
            <a:ext cx="2115375" cy="155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0665" y="1044250"/>
            <a:ext cx="1993335" cy="13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MATRIZ DE COOCORRÊNCIA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738" y="1524300"/>
            <a:ext cx="2885725" cy="23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101200" y="1270050"/>
            <a:ext cx="1577400" cy="24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chemeClr val="dk2"/>
                </a:solidFill>
              </a:rPr>
              <a:t>LINHAS</a:t>
            </a:r>
            <a:endParaRPr b="1" sz="1600" u="sng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Termo 1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Termo 2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(...)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Termo n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678600" y="484800"/>
            <a:ext cx="267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 u="sng">
                <a:solidFill>
                  <a:schemeClr val="dk2"/>
                </a:solidFill>
              </a:rPr>
              <a:t>COLUNAS </a:t>
            </a:r>
            <a:endParaRPr b="1" sz="1500" u="sng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 u="sng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</a:rPr>
              <a:t>Dimensão alvo (sentença, contexto, documento)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4917275" y="613750"/>
            <a:ext cx="4014000" cy="1346700"/>
          </a:xfrm>
          <a:prstGeom prst="wedgeRectCallout">
            <a:avLst>
              <a:gd fmla="val -71724" name="adj1"/>
              <a:gd fmla="val 6523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/>
              <a:t>CÉLULAS</a:t>
            </a:r>
            <a:endParaRPr b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valores representam a frequência dos termos nas sentenças, documentos ou contextos.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4898075" y="2370725"/>
            <a:ext cx="4052400" cy="1782600"/>
          </a:xfrm>
          <a:prstGeom prst="wedgeRectCallout">
            <a:avLst>
              <a:gd fmla="val -62183" name="adj1"/>
              <a:gd fmla="val 308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u="sng"/>
              <a:t>DIMENSÕES DA MATRIZ</a:t>
            </a:r>
            <a:endParaRPr b="1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dimensões da matriz dependem da quantidade de termos dos textos (linhas) ou quantidade de sentenças, documentos ou contextos considerados (colunas).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0" y="12825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EXEMPLOS DE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MATRIZES DE COOCORRÊNCIA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150" y="996300"/>
            <a:ext cx="7093525" cy="17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877575" y="626575"/>
            <a:ext cx="68739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sng">
                <a:solidFill>
                  <a:schemeClr val="dk2"/>
                </a:solidFill>
              </a:rPr>
              <a:t>MATRIZ TERMO-DOCUMENTO</a:t>
            </a:r>
            <a:endParaRPr b="1" sz="1800" u="sng"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974775" y="2703425"/>
            <a:ext cx="68739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sng">
                <a:solidFill>
                  <a:schemeClr val="dk2"/>
                </a:solidFill>
              </a:rPr>
              <a:t>MATRIZ TERMO-CONTEXTO</a:t>
            </a:r>
            <a:endParaRPr b="1" sz="1800" u="sng">
              <a:solidFill>
                <a:schemeClr val="dk2"/>
              </a:solidFill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088" y="3112025"/>
            <a:ext cx="3469650" cy="12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SIMILARIDADE ENTRE VETORES SEMÂNTICOS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428700" y="600925"/>
            <a:ext cx="8400300" cy="3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Utiliza a </a:t>
            </a:r>
            <a:r>
              <a:rPr b="1" lang="pt-BR" sz="1800">
                <a:solidFill>
                  <a:schemeClr val="dk2"/>
                </a:solidFill>
              </a:rPr>
              <a:t>Distância do Cosseno</a:t>
            </a:r>
            <a:r>
              <a:rPr lang="pt-BR" sz="1800">
                <a:solidFill>
                  <a:schemeClr val="dk2"/>
                </a:solidFill>
              </a:rPr>
              <a:t> para qualquer vetor semântico. Por exemplo: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Eu adorei o filme. Foi incrível.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Eu detestei o filme. Foi horrível.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Transformando 1 e 2 em vetores semânticos discretos, temos o seguinte: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 = [1, 1, 0, 1, 1, 0]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b = [1, 0, 1, 1, 0, 1]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Aplicando: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475" y="2752850"/>
            <a:ext cx="43243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700" y="3724400"/>
            <a:ext cx="27051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2847000" y="2116800"/>
            <a:ext cx="3450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chemeClr val="dk2"/>
                </a:solidFill>
              </a:rPr>
              <a:t>VETORES ESPARSOS</a:t>
            </a:r>
            <a:endParaRPr b="1" i="0" sz="26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CARACTERÍSTICAS DOS VETORES ESPARSOS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26125" y="677875"/>
            <a:ext cx="8425800" cy="3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Possuem tamanhos variáveis de acordo com a quantidade de termos do texto que representam.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Normalmente, as palavras sozinhas não trazem significado suficiente (por exemplo, “porque”, “durante”, “após”, “a”, “o”, “as”, “os”, etc.)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Na distribuição, uma pequena parte dos tokens aparece com frequência muito elevada, enquanto que a maior parte das palavras aparecem com frequência muito baixa.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Em razão da característica anterior, as matrizes de termo-documento ou termo-contexto tendem a serem populadas com muitos zeros. Por isso, são chamadas de vetores esparsos.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TERM FREQUENCY - INVERSE DATA FREQUENCY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 (TF-IDF)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192300" y="511150"/>
            <a:ext cx="87594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Utiliza dados frequentistas da matriz termo-documento.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i="1" lang="pt-BR" sz="1600" u="sng">
                <a:solidFill>
                  <a:schemeClr val="dk2"/>
                </a:solidFill>
              </a:rPr>
              <a:t>Term Frequency (TF)</a:t>
            </a:r>
            <a:r>
              <a:rPr lang="pt-BR" sz="1600">
                <a:solidFill>
                  <a:schemeClr val="dk2"/>
                </a:solidFill>
              </a:rPr>
              <a:t>: mede a importância do termo em um documento (onde t é o termo em foco e d é o documento).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i="1" lang="pt-BR" sz="1600" u="sng">
                <a:solidFill>
                  <a:schemeClr val="dk2"/>
                </a:solidFill>
              </a:rPr>
              <a:t>Inverse Data Frequency (IDF)</a:t>
            </a:r>
            <a:r>
              <a:rPr lang="pt-BR" sz="1600">
                <a:solidFill>
                  <a:schemeClr val="dk2"/>
                </a:solidFill>
              </a:rPr>
              <a:t>: mede a importância relativa de uma palavra para a coleção de documentos (onde </a:t>
            </a:r>
            <a:r>
              <a:rPr i="1" lang="pt-BR" sz="1600">
                <a:solidFill>
                  <a:schemeClr val="dk2"/>
                </a:solidFill>
              </a:rPr>
              <a:t>N</a:t>
            </a:r>
            <a:r>
              <a:rPr lang="pt-BR" sz="1600">
                <a:solidFill>
                  <a:schemeClr val="dk2"/>
                </a:solidFill>
              </a:rPr>
              <a:t> é o total de documentos e </a:t>
            </a:r>
            <a:r>
              <a:rPr i="1" lang="pt-BR" sz="1600">
                <a:solidFill>
                  <a:schemeClr val="dk2"/>
                </a:solidFill>
              </a:rPr>
              <a:t>t</a:t>
            </a:r>
            <a:r>
              <a:rPr lang="pt-BR" sz="1600">
                <a:solidFill>
                  <a:schemeClr val="dk2"/>
                </a:solidFill>
              </a:rPr>
              <a:t> é o total de documentos que </a:t>
            </a:r>
            <a:r>
              <a:rPr lang="pt-BR" sz="1600">
                <a:solidFill>
                  <a:schemeClr val="dk2"/>
                </a:solidFill>
              </a:rPr>
              <a:t>possui</a:t>
            </a:r>
            <a:r>
              <a:rPr lang="pt-BR" sz="1600">
                <a:solidFill>
                  <a:schemeClr val="dk2"/>
                </a:solidFill>
              </a:rPr>
              <a:t> o termo em análise).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TF-IDF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875" y="1367537"/>
            <a:ext cx="4062675" cy="659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8875" y="2908824"/>
            <a:ext cx="4062675" cy="6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6525" y="3931350"/>
            <a:ext cx="3919900" cy="5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TERM FREQUENCY - INVERSE DATA FREQUENCY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 (TF-IDF)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249175" y="575275"/>
            <a:ext cx="88947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i="1" lang="pt-BR" sz="1700" u="sng">
                <a:solidFill>
                  <a:schemeClr val="dk2"/>
                </a:solidFill>
              </a:rPr>
              <a:t>Interpretação</a:t>
            </a:r>
            <a:r>
              <a:rPr lang="pt-BR" sz="1700">
                <a:solidFill>
                  <a:schemeClr val="dk2"/>
                </a:solidFill>
              </a:rPr>
              <a:t>: quanto menor é o número de documentos que contém determinado termo, e quanto maior é a ocorrência dele dentro do documento, maior será o valor do TF-IDF. No entanto, caso contrário, menor será seu valor.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b="1" i="1" lang="pt-BR" sz="1700" u="sng">
                <a:solidFill>
                  <a:schemeClr val="dk2"/>
                </a:solidFill>
              </a:rPr>
              <a:t>Utilidade</a:t>
            </a:r>
            <a:r>
              <a:rPr lang="pt-BR" sz="1700">
                <a:solidFill>
                  <a:schemeClr val="dk2"/>
                </a:solidFill>
              </a:rPr>
              <a:t>: partindo da premissa de que a palavra que mais ocorre no texto é a mais representativa do texto, essa informação pode ser usada nas seguintes tarefas:</a:t>
            </a:r>
            <a:endParaRPr sz="17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i="1" lang="pt-BR" sz="1700">
                <a:solidFill>
                  <a:schemeClr val="dk2"/>
                </a:solidFill>
              </a:rPr>
              <a:t>Recuperação de Informação</a:t>
            </a:r>
            <a:r>
              <a:rPr lang="pt-BR" sz="1700">
                <a:solidFill>
                  <a:schemeClr val="dk2"/>
                </a:solidFill>
              </a:rPr>
              <a:t>: indexação de documentos.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i="1" lang="pt-BR" sz="1700">
                <a:solidFill>
                  <a:schemeClr val="dk2"/>
                </a:solidFill>
              </a:rPr>
              <a:t>Análise de Sentimento</a:t>
            </a:r>
            <a:r>
              <a:rPr lang="pt-BR" sz="1700">
                <a:solidFill>
                  <a:schemeClr val="dk2"/>
                </a:solidFill>
              </a:rPr>
              <a:t>: seleção de palavras relevantes cuja polaridade será avaliada pelo algoritmo.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i="1" lang="pt-BR" sz="1700">
                <a:solidFill>
                  <a:schemeClr val="dk2"/>
                </a:solidFill>
              </a:rPr>
              <a:t>Agrupamento de Documentos</a:t>
            </a:r>
            <a:r>
              <a:rPr lang="pt-BR" sz="1700">
                <a:solidFill>
                  <a:schemeClr val="dk2"/>
                </a:solidFill>
              </a:rPr>
              <a:t>: palavras que ocorrem simultaneamente em dois ou mais textos podem ser usadas para agrupar documentos.</a:t>
            </a:r>
            <a:endParaRPr sz="1700">
              <a:solidFill>
                <a:schemeClr val="dk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</a:pPr>
            <a:r>
              <a:rPr b="1" i="1" lang="pt-BR" sz="1700">
                <a:solidFill>
                  <a:schemeClr val="dk2"/>
                </a:solidFill>
              </a:rPr>
              <a:t>Sumarização de Textos</a:t>
            </a:r>
            <a:r>
              <a:rPr lang="pt-BR" sz="1700">
                <a:solidFill>
                  <a:schemeClr val="dk2"/>
                </a:solidFill>
              </a:rPr>
              <a:t>: palavras chave ou tópicos relevantes podem ser usados para gerar resumos.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EXEMPLO DE CÓDIGO DO TF-IDF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1000"/>
            <a:ext cx="8839201" cy="3544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POINTWISE MUTUAL INFORMATION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(PMI)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23525" y="600925"/>
            <a:ext cx="8920500" cy="3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é uma medida estatística que mede a probabilidade de dois termos ocorrerem juntos em relação a ocorrerem separadamente.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Cálculos</a:t>
            </a:r>
            <a:r>
              <a:rPr lang="pt-BR" sz="1800">
                <a:solidFill>
                  <a:schemeClr val="dk2"/>
                </a:solidFill>
              </a:rPr>
              <a:t>: utilizam conceitos de probabilidade condicional.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Variação</a:t>
            </a:r>
            <a:r>
              <a:rPr lang="pt-BR" sz="1800">
                <a:solidFill>
                  <a:schemeClr val="dk2"/>
                </a:solidFill>
              </a:rPr>
              <a:t>: PPMI (Positive Pointwise Mutual Information).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375" y="1855488"/>
            <a:ext cx="598170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7438" y="3604375"/>
            <a:ext cx="46767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POINTWISE MUTUAL INFORMATION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(PMI)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23500" y="498325"/>
            <a:ext cx="89205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Interpretação</a:t>
            </a:r>
            <a:r>
              <a:rPr lang="pt-BR" sz="1800">
                <a:solidFill>
                  <a:schemeClr val="dk2"/>
                </a:solidFill>
              </a:rPr>
              <a:t>: quanto maior a chance de ocorrer junto e menor a chance de ocorrer em separado, maior será o PMI, ou vice-versa.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Características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importa a ordem, o PMI será o mesmo. Exemplo: ‘artificial inteligência’ e ‘inteligência artificial’.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É muito sensível a frequência de palavras. Por isso, pode superestimar palavras raras e subestimar palavras comuns.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leva em consideração a topologia da palavra no texto.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Utilidade</a:t>
            </a:r>
            <a:r>
              <a:rPr lang="pt-BR" sz="1800">
                <a:solidFill>
                  <a:schemeClr val="dk2"/>
                </a:solidFill>
              </a:rPr>
              <a:t>: a associação de palavras é útil para as seguintes tarefas: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Constituição de Modelos de Linguagens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Agrupamento de Tópicos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Recomendação de Conteúdo / Produto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POINTWISE MUTUAL INFORMATION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(PMI)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25" y="459900"/>
            <a:ext cx="7996775" cy="408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LATENT SEMANTIC ANALYSIS</a:t>
            </a: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(LSA)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172225" y="575275"/>
            <a:ext cx="90672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ao invés de gerar matrizes esparsas com muitas dimensões (dezenas de milhares), como o TF-IDF e o PMI/PPMI, o LSA promove uma redução de dimensionalidade da matriz de coocorrência sob a premissa de que existe apenas uma única estrutura semântica latente nos dados.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Cálculos</a:t>
            </a:r>
            <a:r>
              <a:rPr lang="pt-BR" sz="1800">
                <a:solidFill>
                  <a:schemeClr val="dk2"/>
                </a:solidFill>
              </a:rPr>
              <a:t>: utiliza a técnicasdo SVD para reduzir a dimensionalidade da matriz esparsa.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225" y="2453597"/>
            <a:ext cx="5342649" cy="19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LATENT SEMANTIC ANALYSIS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(LSA)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172225" y="575275"/>
            <a:ext cx="90672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Desvantagens:</a:t>
            </a:r>
            <a:r>
              <a:rPr lang="pt-B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Uma vez que considera palavras independentes, ignore a estrutura sintática e o contexto de relações mais complexas.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A abordagem não lida bem com a mudança de significado ao longo do tempo.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A redução da dimensionalidade provoca uma dificuldade de interpretação.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EXEMPLO DE LATENT SEMANTIC ANALYSIS </a:t>
            </a: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(LSA)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878491" y="2146852"/>
            <a:ext cx="738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1" name="Google Shape;2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175" y="516623"/>
            <a:ext cx="7201651" cy="399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/>
        </p:nvSpPr>
        <p:spPr>
          <a:xfrm>
            <a:off x="2847000" y="2116800"/>
            <a:ext cx="3450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pt-BR" sz="2600">
                <a:solidFill>
                  <a:schemeClr val="dk2"/>
                </a:solidFill>
              </a:rPr>
              <a:t>VETORES DENSOS</a:t>
            </a:r>
            <a:endParaRPr b="1" i="0" sz="26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VETORES DENSOS (EMBEDDINGS)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100" y="478675"/>
            <a:ext cx="9144000" cy="4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Histórico</a:t>
            </a:r>
            <a:r>
              <a:rPr lang="pt-BR" sz="1800">
                <a:solidFill>
                  <a:schemeClr val="dk2"/>
                </a:solidFill>
              </a:rPr>
              <a:t>: as primeiras ideias de representação de palavras na forma de vetores densos foram desenvolvidas na década de 1950, mas somente foram consideradas seriamente, e utilizadas em larga escala, a partir do Word2Vec em 2013.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Conceito:</a:t>
            </a:r>
            <a:r>
              <a:rPr lang="pt-BR" sz="1800">
                <a:solidFill>
                  <a:schemeClr val="dk2"/>
                </a:solidFill>
              </a:rPr>
              <a:t> são vetores apreendidos por meio de algoritmos de aprendizado de máquina (como o Word2Vec) ou por meio de matriz de coocorrência dos termos (como o GloVe).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Características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São menores que os esparsos, pois possuem entre 50-1000 dimensões.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possuem interpretação clara do seu significado, embora sejam mais eficientes na captura de relações semânticas ou conceituais.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Recebem números reais positivos ou negativos.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VETORES DENSOS (EMBEDDINGS)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100" y="478675"/>
            <a:ext cx="9144000" cy="4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Classificação</a:t>
            </a:r>
            <a:r>
              <a:rPr lang="pt-BR" sz="1800">
                <a:solidFill>
                  <a:schemeClr val="dk2"/>
                </a:solidFill>
              </a:rPr>
              <a:t>: mira na estabilidade dos vetores.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b="1" i="1" lang="pt-BR" sz="1800" u="sng">
                <a:solidFill>
                  <a:schemeClr val="dk2"/>
                </a:solidFill>
              </a:rPr>
              <a:t>Embeddings Estáticos</a:t>
            </a:r>
            <a:r>
              <a:rPr lang="pt-BR" sz="1800">
                <a:solidFill>
                  <a:schemeClr val="dk2"/>
                </a:solidFill>
              </a:rPr>
              <a:t>: depois de aprendidos pelo algoritmo não podem ser alterados para se adaptarem a um determinado contexto. Exemplo: Word2Vec, Fasttext e o Glove.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b="1" i="1" lang="pt-BR" sz="1800" u="sng">
                <a:solidFill>
                  <a:schemeClr val="dk2"/>
                </a:solidFill>
              </a:rPr>
              <a:t>Embeddings Dinâmicos</a:t>
            </a:r>
            <a:r>
              <a:rPr lang="pt-BR" sz="1800">
                <a:solidFill>
                  <a:schemeClr val="dk2"/>
                </a:solidFill>
              </a:rPr>
              <a:t>:os vetores podem ser ajustados para tarefas específicas </a:t>
            </a:r>
            <a:r>
              <a:rPr lang="pt-BR" sz="1800">
                <a:solidFill>
                  <a:schemeClr val="dk2"/>
                </a:solidFill>
              </a:rPr>
              <a:t>depois de terem sido treinados pelo algoritmo. Exemplo: Elmo, Bert e GPT.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Estrutura</a:t>
            </a:r>
            <a:r>
              <a:rPr lang="pt-BR" sz="1800">
                <a:solidFill>
                  <a:schemeClr val="dk2"/>
                </a:solidFill>
              </a:rPr>
              <a:t>: a estrutura dos vetores densos armazena informações na forma de uma matriz, onde “</a:t>
            </a:r>
            <a:r>
              <a:rPr i="1" lang="pt-BR" sz="1800">
                <a:solidFill>
                  <a:schemeClr val="dk2"/>
                </a:solidFill>
              </a:rPr>
              <a:t>|V|”</a:t>
            </a:r>
            <a:r>
              <a:rPr lang="pt-BR" sz="1800">
                <a:solidFill>
                  <a:schemeClr val="dk2"/>
                </a:solidFill>
              </a:rPr>
              <a:t> é o vocabulário do texto (linhas) e “</a:t>
            </a:r>
            <a:r>
              <a:rPr i="1" lang="pt-BR" sz="1800">
                <a:solidFill>
                  <a:schemeClr val="dk2"/>
                </a:solidFill>
              </a:rPr>
              <a:t>d”</a:t>
            </a:r>
            <a:r>
              <a:rPr lang="pt-BR" sz="1800">
                <a:solidFill>
                  <a:schemeClr val="dk2"/>
                </a:solidFill>
              </a:rPr>
              <a:t> são as dimensões 50-1000 (colunas da matriz).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225" y="3952825"/>
            <a:ext cx="16192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0" y="774150"/>
            <a:ext cx="9144000" cy="3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é uma técnica de aprendizado que cria embeddings estáticos para cada palavra sendo certo que tem como objetivo capturar a semântica e a relação entre as unidades de representação de um </a:t>
            </a:r>
            <a:r>
              <a:rPr i="1" lang="pt-BR" sz="1800">
                <a:solidFill>
                  <a:schemeClr val="dk2"/>
                </a:solidFill>
              </a:rPr>
              <a:t>corpus</a:t>
            </a:r>
            <a:r>
              <a:rPr lang="pt-BR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Arquitetura</a:t>
            </a:r>
            <a:r>
              <a:rPr lang="pt-BR" sz="1800">
                <a:solidFill>
                  <a:schemeClr val="dk2"/>
                </a:solidFill>
              </a:rPr>
              <a:t>: a arquitetura é baseada em rede neural de um único neurônio e possuem três camadas bem definidas: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i="1" lang="pt-BR" sz="1800">
                <a:solidFill>
                  <a:schemeClr val="dk2"/>
                </a:solidFill>
              </a:rPr>
              <a:t>Camada de Entrada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i="1" lang="pt-BR" sz="1800">
                <a:solidFill>
                  <a:schemeClr val="dk2"/>
                </a:solidFill>
              </a:rPr>
              <a:t>Camada de Projeção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i="1" lang="pt-BR" sz="1800">
                <a:solidFill>
                  <a:schemeClr val="dk2"/>
                </a:solidFill>
              </a:rPr>
              <a:t>Camada de Saída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Classificação</a:t>
            </a:r>
            <a:r>
              <a:rPr lang="pt-BR" sz="1800">
                <a:solidFill>
                  <a:schemeClr val="dk2"/>
                </a:solidFill>
              </a:rPr>
              <a:t>: o Word2Vec possui duas arquiteturas que podem ser classificadas da seguinte forma em </a:t>
            </a:r>
            <a:r>
              <a:rPr b="1" i="1" lang="pt-BR" sz="1800" u="sng">
                <a:solidFill>
                  <a:schemeClr val="dk2"/>
                </a:solidFill>
              </a:rPr>
              <a:t>Continuous Bag-of-Words (CBOW)</a:t>
            </a:r>
            <a:r>
              <a:rPr lang="pt-BR" sz="1800">
                <a:solidFill>
                  <a:schemeClr val="dk2"/>
                </a:solidFill>
              </a:rPr>
              <a:t> e </a:t>
            </a:r>
            <a:r>
              <a:rPr b="1" i="1" lang="pt-BR" sz="1800" u="sng">
                <a:solidFill>
                  <a:schemeClr val="dk2"/>
                </a:solidFill>
              </a:rPr>
              <a:t>SKIP-GRAM</a:t>
            </a:r>
            <a:r>
              <a:rPr lang="pt-BR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 - CONTINUOUS BAG OF WORDS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0" y="551850"/>
            <a:ext cx="9144000" cy="4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Continuous Bag-of-Words (CBOW)</a:t>
            </a:r>
            <a:r>
              <a:rPr lang="pt-BR" sz="1800">
                <a:solidFill>
                  <a:schemeClr val="dk2"/>
                </a:solidFill>
              </a:rPr>
              <a:t>: tenta </a:t>
            </a:r>
            <a:r>
              <a:rPr b="1" lang="pt-BR" sz="1800">
                <a:solidFill>
                  <a:schemeClr val="dk2"/>
                </a:solidFill>
              </a:rPr>
              <a:t>prever uma palavra-alvo com base em palavras vizinhas</a:t>
            </a:r>
            <a:r>
              <a:rPr lang="pt-BR" sz="1800">
                <a:solidFill>
                  <a:schemeClr val="dk2"/>
                </a:solidFill>
              </a:rPr>
              <a:t>. Isto é, a previsão da palavra alvo é feita considerando as palavras do histórico (anteriores) e as futuras (posteriores). Assim, faz a média dos vetores de entrada. Exemplo: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702" y="1539350"/>
            <a:ext cx="3842050" cy="30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2"/>
          <p:cNvSpPr/>
          <p:nvPr/>
        </p:nvSpPr>
        <p:spPr>
          <a:xfrm>
            <a:off x="1985275" y="3081625"/>
            <a:ext cx="15390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sacar dinheiro.</a:t>
            </a:r>
            <a:endParaRPr/>
          </a:p>
        </p:txBody>
      </p:sp>
      <p:sp>
        <p:nvSpPr>
          <p:cNvPr id="284" name="Google Shape;284;p42"/>
          <p:cNvSpPr/>
          <p:nvPr/>
        </p:nvSpPr>
        <p:spPr>
          <a:xfrm>
            <a:off x="549725" y="3081625"/>
            <a:ext cx="8850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Vou ao</a:t>
            </a:r>
            <a:endParaRPr/>
          </a:p>
        </p:txBody>
      </p:sp>
      <p:sp>
        <p:nvSpPr>
          <p:cNvPr id="285" name="Google Shape;285;p42"/>
          <p:cNvSpPr/>
          <p:nvPr/>
        </p:nvSpPr>
        <p:spPr>
          <a:xfrm>
            <a:off x="1503150" y="3081625"/>
            <a:ext cx="4137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?</a:t>
            </a:r>
            <a:endParaRPr/>
          </a:p>
        </p:txBody>
      </p:sp>
      <p:sp>
        <p:nvSpPr>
          <p:cNvPr id="286" name="Google Shape;286;p42"/>
          <p:cNvSpPr/>
          <p:nvPr/>
        </p:nvSpPr>
        <p:spPr>
          <a:xfrm>
            <a:off x="7690300" y="3081625"/>
            <a:ext cx="11271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? = Banco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3"/>
          <p:cNvSpPr txBox="1"/>
          <p:nvPr/>
        </p:nvSpPr>
        <p:spPr>
          <a:xfrm>
            <a:off x="18325" y="498325"/>
            <a:ext cx="9144000" cy="4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EXEMPLO DE VETORES CBOW:</a:t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22" y="1068397"/>
            <a:ext cx="6304399" cy="32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 - SKIPGRAM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4"/>
          <p:cNvSpPr txBox="1"/>
          <p:nvPr/>
        </p:nvSpPr>
        <p:spPr>
          <a:xfrm>
            <a:off x="18325" y="498325"/>
            <a:ext cx="9144000" cy="4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Skip-Gram</a:t>
            </a:r>
            <a:r>
              <a:rPr lang="pt-BR" sz="1800">
                <a:solidFill>
                  <a:schemeClr val="dk2"/>
                </a:solidFill>
              </a:rPr>
              <a:t>: faz exatamente o oposto do CBOW, pois tenta prever palavras vizinhas a partir de uma palavra alvo.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1762" y="1394088"/>
            <a:ext cx="4061274" cy="313002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4"/>
          <p:cNvSpPr/>
          <p:nvPr/>
        </p:nvSpPr>
        <p:spPr>
          <a:xfrm>
            <a:off x="7462150" y="2976850"/>
            <a:ext cx="15390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sacar dinheiro.</a:t>
            </a:r>
            <a:endParaRPr/>
          </a:p>
        </p:txBody>
      </p:sp>
      <p:sp>
        <p:nvSpPr>
          <p:cNvPr id="302" name="Google Shape;302;p44"/>
          <p:cNvSpPr/>
          <p:nvPr/>
        </p:nvSpPr>
        <p:spPr>
          <a:xfrm>
            <a:off x="6026600" y="2976850"/>
            <a:ext cx="8850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Vou ao</a:t>
            </a:r>
            <a:endParaRPr/>
          </a:p>
        </p:txBody>
      </p:sp>
      <p:sp>
        <p:nvSpPr>
          <p:cNvPr id="303" name="Google Shape;303;p44"/>
          <p:cNvSpPr/>
          <p:nvPr/>
        </p:nvSpPr>
        <p:spPr>
          <a:xfrm>
            <a:off x="6980025" y="2976850"/>
            <a:ext cx="4137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4"/>
          <p:cNvSpPr/>
          <p:nvPr/>
        </p:nvSpPr>
        <p:spPr>
          <a:xfrm>
            <a:off x="689425" y="2976850"/>
            <a:ext cx="1127100" cy="4086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Banco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18325" y="498325"/>
            <a:ext cx="9144000" cy="4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EXEMPLO DE VETORES SKIP GRAM:</a:t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</p:txBody>
      </p:sp>
      <p:pic>
        <p:nvPicPr>
          <p:cNvPr id="311" name="Google Shape;3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900" y="997849"/>
            <a:ext cx="6718175" cy="33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WORD2VEC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6"/>
          <p:cNvSpPr txBox="1"/>
          <p:nvPr/>
        </p:nvSpPr>
        <p:spPr>
          <a:xfrm>
            <a:off x="18325" y="729175"/>
            <a:ext cx="9144000" cy="3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Limitações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Palavras ambíguas possuem dificuldade de representação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lida bem com palavras raras ou fora do vocabulário de treinamento.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Skip-Gram não captura relações sintáticas.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Questões morfológicas e das estruturas internas às palavras são completamente ignoradas.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consegue lidar com métodos de concatenação de palavras, pois trata as palavras como unidade única.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FASTTEXT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50" y="489850"/>
            <a:ext cx="91440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o Facebook AI Research (FAIR) estendeu o conceito de SKIP-GRAM. Assim, ao invés de usar a palavra como menor unidade de representação, esse algoritmo passou a considerar que a palavra seria formada por uma combinação de n-gramas de caracteres. Isso permitiu trabalhar melhor técnicas de morfologia e estrutura interna das palavras.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Representação</a:t>
            </a:r>
            <a:r>
              <a:rPr lang="pt-BR" sz="1800">
                <a:solidFill>
                  <a:schemeClr val="dk2"/>
                </a:solidFill>
              </a:rPr>
              <a:t>: utiliza-se simbologia própria para representação dos dados. Por exemplo, a palavra completa é colocada ao lado da representação n-gramas dos caracteres (iniciada pelo ‘&lt;’ e terminada por ‘&gt;’), da seguinte forma: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950" y="3100950"/>
            <a:ext cx="5490500" cy="14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FASTTEXT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50" y="489850"/>
            <a:ext cx="91440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Arquitetura:</a:t>
            </a:r>
            <a:r>
              <a:rPr lang="pt-BR" sz="1800">
                <a:solidFill>
                  <a:schemeClr val="dk2"/>
                </a:solidFill>
              </a:rPr>
              <a:t> como é uma técnica derivada do Word2Vec, apresenta as duas arquiteturas (CBOW e SkipGram) adaptadas. Por exemplo, a do CBOW: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31" name="Google Shape;3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891" y="1208728"/>
            <a:ext cx="5408225" cy="34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FASTTEXT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 txBox="1"/>
          <p:nvPr/>
        </p:nvSpPr>
        <p:spPr>
          <a:xfrm>
            <a:off x="50" y="489850"/>
            <a:ext cx="91440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Limitações</a:t>
            </a:r>
            <a:r>
              <a:rPr b="1" i="1" lang="pt-BR" sz="1800" u="sng">
                <a:solidFill>
                  <a:schemeClr val="dk2"/>
                </a:solidFill>
              </a:rPr>
              <a:t>:</a:t>
            </a:r>
            <a:r>
              <a:rPr lang="pt-BR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Representação muito limitada do contexto, sendo certo que não compreende o contexto.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Sensível ao tamanho do vocabulário (treinamento lento), demandando recursos computacionais expressivos.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funciona para idiomas com morfologia complexa.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GLOVE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5500" y="575275"/>
            <a:ext cx="91440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50"/>
          <p:cNvSpPr txBox="1"/>
          <p:nvPr/>
        </p:nvSpPr>
        <p:spPr>
          <a:xfrm>
            <a:off x="5500" y="523975"/>
            <a:ext cx="9138600" cy="4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Conceito</a:t>
            </a:r>
            <a:r>
              <a:rPr lang="pt-BR" sz="1800">
                <a:solidFill>
                  <a:schemeClr val="dk2"/>
                </a:solidFill>
              </a:rPr>
              <a:t>: ao invés de adotar a abordagem focada na relação entre palavras localmente, o Glove adota perspectiva global, uma vez que leva em consideração a contagem de coocorrência palavra-palavra em um corpus. Isso proporciona uma boa captura de relações sintáticas e semânticas.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sng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Técnica</a:t>
            </a:r>
            <a:r>
              <a:rPr lang="pt-BR" sz="1800">
                <a:solidFill>
                  <a:schemeClr val="dk2"/>
                </a:solidFill>
              </a:rPr>
              <a:t>: utiliza modelo log-bilinear (não-linear) para calcular a frequência das palavras, bem como tenta capturar a relação e a frequência das palavras de uma janela de contexto. Em seguida, utiliza o </a:t>
            </a:r>
            <a:r>
              <a:rPr lang="pt-BR" sz="1800">
                <a:solidFill>
                  <a:schemeClr val="dk2"/>
                </a:solidFill>
              </a:rPr>
              <a:t>Stochastic</a:t>
            </a:r>
            <a:r>
              <a:rPr lang="pt-BR" sz="1800">
                <a:solidFill>
                  <a:schemeClr val="dk2"/>
                </a:solidFill>
              </a:rPr>
              <a:t> Gradient Descent (SGD) para otimizar a função de perda/custo (J).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45" name="Google Shape;34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69" y="3263644"/>
            <a:ext cx="3007112" cy="4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000" y="3814300"/>
            <a:ext cx="2760450" cy="7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481" y="3416899"/>
            <a:ext cx="4549493" cy="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>
            <p:ph type="title"/>
          </p:nvPr>
        </p:nvSpPr>
        <p:spPr>
          <a:xfrm>
            <a:off x="0" y="0"/>
            <a:ext cx="914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pt-BR" sz="2000">
                <a:latin typeface="Arial"/>
                <a:ea typeface="Arial"/>
                <a:cs typeface="Arial"/>
                <a:sym typeface="Arial"/>
              </a:rPr>
              <a:t>GLOVE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1"/>
          <p:cNvSpPr txBox="1"/>
          <p:nvPr/>
        </p:nvSpPr>
        <p:spPr>
          <a:xfrm>
            <a:off x="5500" y="575275"/>
            <a:ext cx="91440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4" name="Google Shape;354;p51"/>
          <p:cNvSpPr txBox="1"/>
          <p:nvPr/>
        </p:nvSpPr>
        <p:spPr>
          <a:xfrm>
            <a:off x="5500" y="523975"/>
            <a:ext cx="9138600" cy="40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i="1" lang="pt-BR" sz="1800" u="sng">
                <a:solidFill>
                  <a:schemeClr val="dk2"/>
                </a:solidFill>
              </a:rPr>
              <a:t>Limitações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A criação do modelo consome muita memória (matriz de coocorrência).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Não consegue lidar bem com palavras fora do vocabulário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Char char="○"/>
            </a:pPr>
            <a:r>
              <a:rPr lang="pt-BR" sz="1800">
                <a:solidFill>
                  <a:schemeClr val="dk2"/>
                </a:solidFill>
              </a:rPr>
              <a:t>Ignora a morfologia das palavras.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"/>
          <p:cNvSpPr txBox="1"/>
          <p:nvPr/>
        </p:nvSpPr>
        <p:spPr>
          <a:xfrm>
            <a:off x="120925" y="1473000"/>
            <a:ext cx="914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</a:rPr>
              <a:t>MUITO OBRIGADO!!</a:t>
            </a:r>
            <a:endParaRPr b="1" sz="2800">
              <a:solidFill>
                <a:srgbClr val="000000"/>
              </a:solidFill>
            </a:endParaRPr>
          </a:p>
        </p:txBody>
      </p:sp>
      <p:sp>
        <p:nvSpPr>
          <p:cNvPr id="361" name="Google Shape;361;p52"/>
          <p:cNvSpPr txBox="1"/>
          <p:nvPr/>
        </p:nvSpPr>
        <p:spPr>
          <a:xfrm>
            <a:off x="5062975" y="1721650"/>
            <a:ext cx="14046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2000">
                <a:solidFill>
                  <a:srgbClr val="000000"/>
                </a:solidFill>
              </a:rPr>
              <a:t>CONTATO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475" y="1721650"/>
            <a:ext cx="1961100" cy="2190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63" name="Google Shape;363;p52"/>
          <p:cNvGrpSpPr/>
          <p:nvPr/>
        </p:nvGrpSpPr>
        <p:grpSpPr>
          <a:xfrm>
            <a:off x="3321625" y="3181400"/>
            <a:ext cx="3664450" cy="572700"/>
            <a:chOff x="3550225" y="3212550"/>
            <a:chExt cx="3664450" cy="572700"/>
          </a:xfrm>
        </p:grpSpPr>
        <p:pic>
          <p:nvPicPr>
            <p:cNvPr id="364" name="Google Shape;364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50225" y="3212550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52"/>
            <p:cNvSpPr txBox="1"/>
            <p:nvPr/>
          </p:nvSpPr>
          <p:spPr>
            <a:xfrm>
              <a:off x="4244675" y="3212550"/>
              <a:ext cx="2970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pt-BR" sz="1800">
                  <a:solidFill>
                    <a:srgbClr val="595959"/>
                  </a:solidFill>
                </a:rPr>
                <a:t>Email</a:t>
              </a:r>
              <a:r>
                <a:rPr lang="pt-BR" sz="1800">
                  <a:solidFill>
                    <a:srgbClr val="595959"/>
                  </a:solidFill>
                </a:rPr>
                <a:t>: filipelemos@usp.br</a:t>
              </a:r>
              <a:endParaRPr/>
            </a:p>
          </p:txBody>
        </p:sp>
      </p:grpSp>
      <p:grpSp>
        <p:nvGrpSpPr>
          <p:cNvPr id="366" name="Google Shape;366;p52"/>
          <p:cNvGrpSpPr/>
          <p:nvPr/>
        </p:nvGrpSpPr>
        <p:grpSpPr>
          <a:xfrm>
            <a:off x="3321625" y="2421975"/>
            <a:ext cx="4887291" cy="572700"/>
            <a:chOff x="3550225" y="2574375"/>
            <a:chExt cx="4887291" cy="572700"/>
          </a:xfrm>
        </p:grpSpPr>
        <p:pic>
          <p:nvPicPr>
            <p:cNvPr id="367" name="Google Shape;367;p5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50225" y="25743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52"/>
            <p:cNvSpPr txBox="1"/>
            <p:nvPr/>
          </p:nvSpPr>
          <p:spPr>
            <a:xfrm>
              <a:off x="4236016" y="2631102"/>
              <a:ext cx="4201500" cy="5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pt-BR" sz="1800">
                  <a:solidFill>
                    <a:srgbClr val="595959"/>
                  </a:solidFill>
                </a:rPr>
                <a:t>Linkedin</a:t>
              </a:r>
              <a:r>
                <a:rPr lang="pt-BR" sz="1800">
                  <a:solidFill>
                    <a:srgbClr val="595959"/>
                  </a:solidFill>
                </a:rPr>
                <a:t>: www.linkedin.com/in/cflemos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